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zh-CN" sz="4400" spc="-1" strike="noStrike">
                <a:latin typeface="Arial"/>
              </a:rPr>
              <a:t>单击以移动幻灯片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2000" spc="-1" strike="noStrike">
                <a:latin typeface="Arial"/>
              </a:rPr>
              <a:t>点击编辑备注格式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&lt;页眉&gt;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&lt;日期/时间&gt;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&lt;页脚&gt;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00E29C3-8DDF-49B5-986D-DB9C44E9EEB5}" type="slidenum">
              <a:rPr b="0" lang="en-US" sz="1400" spc="-1" strike="noStrike">
                <a:latin typeface="Times New Roman"/>
              </a:rPr>
              <a:t>&lt;编号&gt;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大家好。这次我们从一张真正的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开始。它不是图片，而是传感器每个像素只有一个颜色的原始数据。右边这张成片，就是这条流水线的输出；它不是某一个滤镜变出来的，而是二十个阶段接力算出来的。今天用五分钟，按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三个域，走完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只有像素，没有宽高、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CFA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、黑电平，所以旁边必须有一份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.meta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meta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里写着宽高、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Bayer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排列、黑白电平、白平衡和颜色矩阵；少一个，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就只能猜。传感器是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Bayer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阵列，绿色占一半，因为人眼对绿最敏感。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要做的，就是把这堆单通道数据，一步步变成能显示、能压缩的彩色图像。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50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整条链路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步。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BLC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BPC/DPC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RAW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Demosaic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Color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X-talking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Correction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HDR/WDR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Space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Luma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Edge Enhance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Contrast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Chroma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Hue/Saturation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Scale/Crop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、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Encoder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。顺序不能乱：线性运算尽量放在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之前；坏点和噪声在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域只是一个点，去了马赛克就会扩散成彩色斑块。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48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域先修传感器和镜头。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BLC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减掉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2047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的黑电平；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用径向增益把四角提亮；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BPC/DPC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用同色邻域中值修坏点；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NR 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用双边滤波压噪声；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把中性色拉回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等于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等于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；最后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Demosaic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把单通道变成三通道。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LSC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工业上要用均匀白板标定，这里用图像自身统计近似；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AWB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用灰度世界，再和相机参考混合。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去马赛克是猜颜色。双线性就是邻居平均，快，但边缘有拉链纹和伪彩；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Malvar-He-Cutler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用五乘五的卷积，加上已知通道的梯度修正，本课默认用它。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MHC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会同时看已知通道的梯度，所以在黑白边界的伪彩更少；代价是计算量更大。这张百分之百裁切，左边双线性，右边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MHC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，能看出差别。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52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域先做色度降噪，再做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X-talking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串扰校正，然后用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把相机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变到线性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CCM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先把相机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XYZ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，再做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Bradford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色适应到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D65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，最后乘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XYZ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到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的矩阵。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HDR/WDR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只压缩超过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1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的高光；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Gamma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做自动曝光和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编码；最后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Color Space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把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变成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48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域利用人眼特性：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做小半径降噪和边缘增强，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做更强的中值降噪；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保留细节，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可以更激进地降噪；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420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就是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U/V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各降一半分辨率，人眼几乎看不出来。再改对比度、色相和饱和度；最后缩放裁剪，编码成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。如果加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--yuv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，还会输出一份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YUV420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，方便给编码器做实验。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34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工程结构是一个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一个目录，输入输出用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.isp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，中间结果随时能看。中间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.isp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文件带头信息，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isp_dump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可以随时把任何一步导成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。你可以只改一个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stage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，再编译一次，十三秒后就能看到差异。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跑通的结果是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2880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乘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1620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的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PNG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，整条链路大约十三秒。分步跑和内存跑，输出逐像素完全一致，最大差异是零。同一份数据还能输出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，方便继续做编码和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AI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部署。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[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约 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32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秒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]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  <a:p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最后总结三句话：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RAW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域修数据，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RGB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域修颜色，</a:t>
            </a:r>
            <a:r>
              <a:rPr b="0" lang="en-US" sz="1300" spc="-1" strike="noStrike">
                <a:solidFill>
                  <a:srgbClr val="334155"/>
                </a:solidFill>
                <a:latin typeface="Microsoft YaHei"/>
              </a:rPr>
              <a:t>YUV </a:t>
            </a:r>
            <a:r>
              <a:rPr b="0" lang="zh-CN" sz="1300" spc="-1" strike="noStrike">
                <a:solidFill>
                  <a:srgbClr val="334155"/>
                </a:solidFill>
                <a:latin typeface="Microsoft YaHei"/>
              </a:rPr>
              <a:t>域修观感。如果只能记一句话：先把数据修对，再把颜色算对，最后把观感改好。学习路径就是：先跑通，再拆开，最后替换算法。谢谢大家，欢迎提问。</a:t>
            </a:r>
            <a:endParaRPr b="0" lang="en-US" sz="1300" spc="-1" strike="noStrike">
              <a:solidFill>
                <a:srgbClr val="334155"/>
              </a:solidFill>
              <a:latin typeface="Microsoft YaHei"/>
              <a:ea typeface="Microsoft YaHei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A260B4-B7D6-4BE4-9E5E-BACE5319C8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400E05-21BC-4327-A761-164036CF1F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122CDA6-9716-49FD-AB4C-3DAC3F10E4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FFBBDF-50C3-4FCE-9F63-2948D19EBC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690C485-0D73-4A08-A326-42F8C501AD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4CDDCC-2631-494E-8FAD-56E5AFAA6B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46786E4-FA55-49AD-84D4-E736708489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440CB2-24B5-48FC-89EA-0308401AAD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AF99C7B-ED54-4F33-8A17-F190730391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5653CF-7F9A-4DDD-9727-79389B3418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6184F0-65AB-48AC-B2AD-D561C3212BA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C4C0E05-01B1-497B-844A-811593BB31F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zh-CN" sz="4400" spc="-1" strike="noStrike">
                <a:latin typeface="Arial"/>
              </a:rPr>
              <a:t>单击以编辑标题文本格式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3200" spc="-1" strike="noStrike">
                <a:latin typeface="Arial"/>
              </a:rPr>
              <a:t>点击以编辑提纲文本格式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800" spc="-1" strike="noStrike">
                <a:latin typeface="Arial"/>
              </a:rPr>
              <a:t>第二提纲级别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400" spc="-1" strike="noStrike">
                <a:latin typeface="Arial"/>
              </a:rPr>
              <a:t>第三提纲级别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2000" spc="-1" strike="noStrike">
                <a:latin typeface="Arial"/>
              </a:rPr>
              <a:t>第四提纲级别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第五提纲级别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第六提纲级别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2000" spc="-1" strike="noStrike">
                <a:latin typeface="Arial"/>
              </a:rPr>
              <a:t>第七提纲级别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&lt;日期/时间&gt;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&lt;页脚&gt;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C6C7CFB-B0E5-4DCA-B46E-EF2501E61F8D}" type="slidenum">
              <a:rPr b="0" lang="en-US" sz="1400" spc="-1" strike="noStrike">
                <a:latin typeface="Times New Roman"/>
              </a:rPr>
              <a:t>&lt;编号&gt;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50" name=""/>
          <p:cNvSpPr/>
          <p:nvPr/>
        </p:nvSpPr>
        <p:spPr>
          <a:xfrm>
            <a:off x="685800" y="1170360"/>
            <a:ext cx="73080" cy="1920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51" name=""/>
          <p:cNvSpPr txBox="1"/>
          <p:nvPr/>
        </p:nvSpPr>
        <p:spPr>
          <a:xfrm>
            <a:off x="932400" y="1051560"/>
            <a:ext cx="5852160" cy="73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800" spc="-1" strike="noStrike">
                <a:solidFill>
                  <a:srgbClr val="ffffff"/>
                </a:solidFill>
                <a:latin typeface="Microsoft YaHei"/>
              </a:rPr>
              <a:t>从 </a:t>
            </a:r>
            <a:r>
              <a:rPr b="1" lang="en-US" sz="3800" spc="-1" strike="noStrike">
                <a:solidFill>
                  <a:srgbClr val="ffffff"/>
                </a:solidFill>
                <a:latin typeface="Microsoft YaHei"/>
              </a:rPr>
              <a:t>.raw </a:t>
            </a:r>
            <a:r>
              <a:rPr b="1" lang="zh-CN" sz="3800" spc="-1" strike="noStrike">
                <a:solidFill>
                  <a:srgbClr val="ffffff"/>
                </a:solidFill>
                <a:latin typeface="Microsoft YaHei"/>
              </a:rPr>
              <a:t>到 </a:t>
            </a:r>
            <a:r>
              <a:rPr b="1" lang="en-US" sz="3800" spc="-1" strike="noStrike">
                <a:solidFill>
                  <a:srgbClr val="ffffff"/>
                </a:solidFill>
                <a:latin typeface="Microsoft YaHei"/>
              </a:rPr>
              <a:t>RGB</a:t>
            </a:r>
            <a:endParaRPr b="1" lang="en-US" sz="38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932400" y="1938240"/>
            <a:ext cx="5760720" cy="45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2400" spc="-1" strike="noStrike">
                <a:solidFill>
                  <a:srgbClr val="cbd5e1"/>
                </a:solidFill>
                <a:latin typeface="Microsoft YaHei"/>
              </a:rPr>
              <a:t>按三域流程手写 </a:t>
            </a:r>
            <a:r>
              <a:rPr b="0" lang="en-US" sz="2400" spc="-1" strike="noStrike">
                <a:solidFill>
                  <a:srgbClr val="cbd5e1"/>
                </a:solidFill>
                <a:latin typeface="Microsoft YaHei"/>
              </a:rPr>
              <a:t>ISP Pipeline</a:t>
            </a:r>
            <a:endParaRPr b="0" lang="en-US" sz="2400" spc="-1" strike="noStrike">
              <a:solidFill>
                <a:srgbClr val="cbd5e1"/>
              </a:solidFill>
              <a:latin typeface="Microsoft YaHei"/>
              <a:ea typeface="Microsoft YaHei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932400" y="2761200"/>
            <a:ext cx="576072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20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个 </a:t>
            </a:r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stage  ·  5760×3840  · 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约 </a:t>
            </a:r>
            <a:r>
              <a:rPr b="1" lang="en-US" sz="1300" spc="-1" strike="noStrike">
                <a:solidFill>
                  <a:srgbClr val="f59e0b"/>
                </a:solidFill>
                <a:latin typeface="Microsoft YaHei"/>
              </a:rPr>
              <a:t>13 </a:t>
            </a:r>
            <a:r>
              <a:rPr b="1" lang="zh-CN" sz="1300" spc="-1" strike="noStrike">
                <a:solidFill>
                  <a:srgbClr val="f59e0b"/>
                </a:solidFill>
                <a:latin typeface="Microsoft YaHei"/>
              </a:rPr>
              <a:t>秒</a:t>
            </a:r>
            <a:endParaRPr b="1" lang="en-US" sz="13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32400" y="3337560"/>
            <a:ext cx="5394960" cy="73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00" spc="-1" strike="noStrike">
                <a:solidFill>
                  <a:srgbClr val="94a3b8"/>
                </a:solidFill>
                <a:latin typeface="Microsoft YaHei"/>
              </a:rPr>
              <a:t>BLC → Demosaic → CCM → Gamma → YUV → PNG</a:t>
            </a:r>
            <a:endParaRPr b="0" lang="en-US" sz="13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55" name=""/>
          <p:cNvSpPr/>
          <p:nvPr/>
        </p:nvSpPr>
        <p:spPr>
          <a:xfrm>
            <a:off x="6501240" y="1039680"/>
            <a:ext cx="5102280" cy="2903760"/>
          </a:xfrm>
          <a:prstGeom prst="rect">
            <a:avLst/>
          </a:prstGeom>
          <a:solidFill>
            <a:srgbClr val="111c2e"/>
          </a:solidFill>
          <a:ln w="12600">
            <a:solidFill>
              <a:srgbClr val="1e293b"/>
            </a:solidFill>
            <a:round/>
          </a:ln>
        </p:spPr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6537960" y="1076040"/>
            <a:ext cx="5029200" cy="2830680"/>
          </a:xfrm>
          <a:prstGeom prst="rect">
            <a:avLst/>
          </a:prstGeom>
          <a:ln w="0">
            <a:noFill/>
          </a:ln>
        </p:spPr>
      </p:pic>
      <p:sp>
        <p:nvSpPr>
          <p:cNvPr id="57" name=""/>
          <p:cNvSpPr txBox="1"/>
          <p:nvPr/>
        </p:nvSpPr>
        <p:spPr>
          <a:xfrm>
            <a:off x="6537960" y="4370760"/>
            <a:ext cx="502920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1000" spc="-1" strike="noStrike">
                <a:solidFill>
                  <a:srgbClr val="94a3b8"/>
                </a:solidFill>
                <a:latin typeface="Microsoft YaHei"/>
              </a:rPr>
              <a:t>输入 </a:t>
            </a:r>
            <a:r>
              <a:rPr b="0" lang="en-US" sz="1000" spc="-1" strike="noStrike">
                <a:solidFill>
                  <a:srgbClr val="94a3b8"/>
                </a:solidFill>
                <a:latin typeface="Microsoft YaHei"/>
              </a:rPr>
              <a:t>.raw + .meta · </a:t>
            </a:r>
            <a:r>
              <a:rPr b="0" lang="zh-CN" sz="1000" spc="-1" strike="noStrike">
                <a:solidFill>
                  <a:srgbClr val="94a3b8"/>
                </a:solidFill>
                <a:latin typeface="Microsoft YaHei"/>
              </a:rPr>
              <a:t>输出 </a:t>
            </a:r>
            <a:r>
              <a:rPr b="0" lang="en-US" sz="1000" spc="-1" strike="noStrike">
                <a:solidFill>
                  <a:srgbClr val="94a3b8"/>
                </a:solidFill>
                <a:latin typeface="Microsoft YaHei"/>
              </a:rPr>
              <a:t>RGB PNG</a:t>
            </a:r>
            <a:endParaRPr b="0" lang="en-US" sz="10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32400" y="598932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64748b"/>
                </a:solidFill>
                <a:latin typeface="Microsoft YaHei"/>
              </a:rPr>
              <a:t>5 </a:t>
            </a:r>
            <a:r>
              <a:rPr b="0" lang="zh-CN" sz="1100" spc="-1" strike="noStrike">
                <a:solidFill>
                  <a:srgbClr val="64748b"/>
                </a:solidFill>
                <a:latin typeface="Microsoft YaHei"/>
              </a:rPr>
              <a:t>分钟讲解  </a:t>
            </a:r>
            <a:r>
              <a:rPr b="0" lang="en-US" sz="1100" spc="-1" strike="noStrike">
                <a:solidFill>
                  <a:srgbClr val="64748b"/>
                </a:solidFill>
                <a:latin typeface="Microsoft YaHei"/>
              </a:rPr>
              <a:t>·  2026</a:t>
            </a:r>
            <a:endParaRPr b="0" lang="en-US" sz="11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60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01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问题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为什么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.raw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不是一张图片？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62" name=""/>
          <p:cNvSpPr/>
          <p:nvPr/>
        </p:nvSpPr>
        <p:spPr>
          <a:xfrm>
            <a:off x="713160" y="1700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3" name=""/>
          <p:cNvSpPr txBox="1"/>
          <p:nvPr/>
        </p:nvSpPr>
        <p:spPr>
          <a:xfrm>
            <a:off x="932400" y="1609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只有像素，没有宽高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/ CFA /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黑电平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4" name=""/>
          <p:cNvSpPr/>
          <p:nvPr/>
        </p:nvSpPr>
        <p:spPr>
          <a:xfrm>
            <a:off x="713160" y="2267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5" name=""/>
          <p:cNvSpPr txBox="1"/>
          <p:nvPr/>
        </p:nvSpPr>
        <p:spPr>
          <a:xfrm>
            <a:off x="932400" y="2176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传感器是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Bayer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阵列：每个像素只有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R/G/B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之一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6" name=""/>
          <p:cNvSpPr/>
          <p:nvPr/>
        </p:nvSpPr>
        <p:spPr>
          <a:xfrm>
            <a:off x="713160" y="2834640"/>
            <a:ext cx="91440" cy="914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67" name=""/>
          <p:cNvSpPr txBox="1"/>
          <p:nvPr/>
        </p:nvSpPr>
        <p:spPr>
          <a:xfrm>
            <a:off x="932400" y="2743200"/>
            <a:ext cx="5212080" cy="32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旁边必须有 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.meta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，</a:t>
            </a:r>
            <a:r>
              <a:rPr b="0" lang="en-US" sz="1500" spc="-1" strike="noStrike">
                <a:solidFill>
                  <a:srgbClr val="0f172a"/>
                </a:solidFill>
                <a:latin typeface="Microsoft YaHei"/>
              </a:rPr>
              <a:t>ISP </a:t>
            </a:r>
            <a:r>
              <a:rPr b="0" lang="zh-CN" sz="1500" spc="-1" strike="noStrike">
                <a:solidFill>
                  <a:srgbClr val="0f172a"/>
                </a:solidFill>
                <a:latin typeface="Microsoft YaHei"/>
              </a:rPr>
              <a:t>才能解释它</a:t>
            </a:r>
            <a:endParaRPr b="0" lang="en-US" sz="15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685800" y="3749040"/>
            <a:ext cx="5440680" cy="10972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69" name=""/>
          <p:cNvSpPr txBox="1"/>
          <p:nvPr/>
        </p:nvSpPr>
        <p:spPr>
          <a:xfrm>
            <a:off x="914400" y="3931920"/>
            <a:ext cx="4983480" cy="68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ISP =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把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Bayer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单通道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  <a:p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变成可显示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RGB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的 </a:t>
            </a:r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20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步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70" name=""/>
          <p:cNvSpPr/>
          <p:nvPr/>
        </p:nvSpPr>
        <p:spPr>
          <a:xfrm>
            <a:off x="6364080" y="1390680"/>
            <a:ext cx="5193720" cy="26128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71" name="" descr=""/>
          <p:cNvPicPr/>
          <p:nvPr/>
        </p:nvPicPr>
        <p:blipFill>
          <a:blip r:embed="rId1"/>
          <a:stretch/>
        </p:blipFill>
        <p:spPr>
          <a:xfrm>
            <a:off x="6400800" y="1427400"/>
            <a:ext cx="5120640" cy="2539800"/>
          </a:xfrm>
          <a:prstGeom prst="rect">
            <a:avLst/>
          </a:prstGeom>
          <a:ln w="0">
            <a:noFill/>
          </a:ln>
        </p:spPr>
      </p:pic>
      <p:sp>
        <p:nvSpPr>
          <p:cNvPr id="72" name=""/>
          <p:cNvSpPr txBox="1"/>
          <p:nvPr/>
        </p:nvSpPr>
        <p:spPr>
          <a:xfrm>
            <a:off x="6400800" y="4224240"/>
            <a:ext cx="512064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RGGB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：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G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占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50%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，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R/B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各占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25%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400800" y="4709160"/>
            <a:ext cx="512064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1050" spc="-1" strike="noStrike">
                <a:solidFill>
                  <a:srgbClr val="2563eb"/>
                </a:solidFill>
                <a:latin typeface="Microsoft YaHei"/>
              </a:rPr>
              <a:t>data/sample.raw + data/sample.meta</a:t>
            </a:r>
            <a:endParaRPr b="1" lang="en-US" sz="105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02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77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02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全景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20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个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stage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，三个域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79" name=""/>
          <p:cNvSpPr/>
          <p:nvPr/>
        </p:nvSpPr>
        <p:spPr>
          <a:xfrm>
            <a:off x="1202400" y="1197720"/>
            <a:ext cx="9802080" cy="510228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80" name="" descr=""/>
          <p:cNvPicPr/>
          <p:nvPr/>
        </p:nvPicPr>
        <p:blipFill>
          <a:blip r:embed="rId1"/>
          <a:stretch/>
        </p:blipFill>
        <p:spPr>
          <a:xfrm>
            <a:off x="1239120" y="1234440"/>
            <a:ext cx="9728640" cy="5029200"/>
          </a:xfrm>
          <a:prstGeom prst="rect">
            <a:avLst/>
          </a:prstGeom>
          <a:ln w="0">
            <a:noFill/>
          </a:ln>
        </p:spPr>
      </p:pic>
      <p:sp>
        <p:nvSpPr>
          <p:cNvPr id="8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03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8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03 / RAW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先修传感器和镜头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86" name=""/>
          <p:cNvSpPr/>
          <p:nvPr/>
        </p:nvSpPr>
        <p:spPr>
          <a:xfrm>
            <a:off x="649080" y="1390680"/>
            <a:ext cx="5696640" cy="2796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685800" y="1427040"/>
            <a:ext cx="5623560" cy="27230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685800" y="4251960"/>
            <a:ext cx="562356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黑电平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2047 ·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白电平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15000 · 16 bit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89" name=""/>
          <p:cNvSpPr/>
          <p:nvPr/>
        </p:nvSpPr>
        <p:spPr>
          <a:xfrm>
            <a:off x="685800" y="4617720"/>
            <a:ext cx="5623560" cy="8686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90" name=""/>
          <p:cNvSpPr txBox="1"/>
          <p:nvPr/>
        </p:nvSpPr>
        <p:spPr>
          <a:xfrm>
            <a:off x="896040" y="4754880"/>
            <a:ext cx="52120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250" spc="-1" strike="noStrike">
                <a:solidFill>
                  <a:srgbClr val="ffffff"/>
                </a:solidFill>
                <a:latin typeface="Microsoft YaHei"/>
              </a:rPr>
              <a:t>先减黑电平，再乘增益。</a:t>
            </a:r>
            <a:endParaRPr b="1" lang="en-US" sz="12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  <a:p>
            <a:r>
              <a:rPr b="1" lang="zh-CN" sz="1250" spc="-1" strike="noStrike">
                <a:solidFill>
                  <a:srgbClr val="ffffff"/>
                </a:solidFill>
                <a:latin typeface="Microsoft YaHei"/>
              </a:rPr>
              <a:t>否则暗部会被放大成偏色。</a:t>
            </a:r>
            <a:endParaRPr b="1" lang="en-US" sz="12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1" name=""/>
          <p:cNvSpPr/>
          <p:nvPr/>
        </p:nvSpPr>
        <p:spPr>
          <a:xfrm>
            <a:off x="672084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92" name=""/>
          <p:cNvSpPr txBox="1"/>
          <p:nvPr/>
        </p:nvSpPr>
        <p:spPr>
          <a:xfrm>
            <a:off x="6720840" y="14857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01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2376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BLC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22376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黑电平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95" name=""/>
          <p:cNvSpPr/>
          <p:nvPr/>
        </p:nvSpPr>
        <p:spPr>
          <a:xfrm>
            <a:off x="672084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96" name=""/>
          <p:cNvSpPr txBox="1"/>
          <p:nvPr/>
        </p:nvSpPr>
        <p:spPr>
          <a:xfrm>
            <a:off x="6720840" y="21441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02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22376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LSC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22376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镜头阴影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99" name=""/>
          <p:cNvSpPr/>
          <p:nvPr/>
        </p:nvSpPr>
        <p:spPr>
          <a:xfrm>
            <a:off x="672084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0" name=""/>
          <p:cNvSpPr txBox="1"/>
          <p:nvPr/>
        </p:nvSpPr>
        <p:spPr>
          <a:xfrm>
            <a:off x="6720840" y="280260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03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22376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BPC/DPC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2376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坏点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03" name=""/>
          <p:cNvSpPr/>
          <p:nvPr/>
        </p:nvSpPr>
        <p:spPr>
          <a:xfrm>
            <a:off x="672084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4" name=""/>
          <p:cNvSpPr txBox="1"/>
          <p:nvPr/>
        </p:nvSpPr>
        <p:spPr>
          <a:xfrm>
            <a:off x="6720840" y="346068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04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22376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RAW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22376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RAW </a:t>
            </a:r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07" name=""/>
          <p:cNvSpPr/>
          <p:nvPr/>
        </p:nvSpPr>
        <p:spPr>
          <a:xfrm>
            <a:off x="672084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08" name=""/>
          <p:cNvSpPr txBox="1"/>
          <p:nvPr/>
        </p:nvSpPr>
        <p:spPr>
          <a:xfrm>
            <a:off x="6720840" y="41191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05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2376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AWB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22376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自动白平衡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11" name=""/>
          <p:cNvSpPr/>
          <p:nvPr/>
        </p:nvSpPr>
        <p:spPr>
          <a:xfrm>
            <a:off x="672084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12" name=""/>
          <p:cNvSpPr txBox="1"/>
          <p:nvPr/>
        </p:nvSpPr>
        <p:spPr>
          <a:xfrm>
            <a:off x="6720840" y="47775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06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22376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Demosaic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722376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颜色插值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04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18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04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去马赛克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每个像素只有一个颜色，怎么变成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RGB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20" name=""/>
          <p:cNvSpPr/>
          <p:nvPr/>
        </p:nvSpPr>
        <p:spPr>
          <a:xfrm>
            <a:off x="649080" y="1397520"/>
            <a:ext cx="6702480" cy="28735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21" name="" descr=""/>
          <p:cNvPicPr/>
          <p:nvPr/>
        </p:nvPicPr>
        <p:blipFill>
          <a:blip r:embed="rId1"/>
          <a:stretch/>
        </p:blipFill>
        <p:spPr>
          <a:xfrm>
            <a:off x="685800" y="1434240"/>
            <a:ext cx="6629400" cy="2800440"/>
          </a:xfrm>
          <a:prstGeom prst="rect">
            <a:avLst/>
          </a:prstGeom>
          <a:ln w="0">
            <a:noFill/>
          </a:ln>
        </p:spPr>
      </p:pic>
      <p:sp>
        <p:nvSpPr>
          <p:cNvPr id="122" name=""/>
          <p:cNvSpPr txBox="1"/>
          <p:nvPr/>
        </p:nvSpPr>
        <p:spPr>
          <a:xfrm>
            <a:off x="685800" y="4407120"/>
            <a:ext cx="662940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100%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裁切：左双线性，右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MHC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23" name=""/>
          <p:cNvSpPr/>
          <p:nvPr/>
        </p:nvSpPr>
        <p:spPr>
          <a:xfrm>
            <a:off x="685800" y="4846320"/>
            <a:ext cx="6629400" cy="86868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124" name=""/>
          <p:cNvSpPr txBox="1"/>
          <p:nvPr/>
        </p:nvSpPr>
        <p:spPr>
          <a:xfrm>
            <a:off x="896040" y="4974120"/>
            <a:ext cx="6263640" cy="45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G = (G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左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右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上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+G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下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)/4</a:t>
            </a:r>
            <a:endParaRPr b="0" lang="en-US" sz="1150" spc="-1" strike="noStrike">
              <a:solidFill>
                <a:srgbClr val="e2e8f0"/>
              </a:solidFill>
              <a:latin typeface="Microsoft YaHei"/>
              <a:ea typeface="Microsoft YaHei"/>
            </a:endParaRPr>
          </a:p>
          <a:p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MHC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：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5×5 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卷积 </a:t>
            </a:r>
            <a:r>
              <a:rPr b="0" lang="en-US" sz="1150" spc="-1" strike="noStrike">
                <a:solidFill>
                  <a:srgbClr val="e2e8f0"/>
                </a:solidFill>
                <a:latin typeface="Microsoft YaHei"/>
              </a:rPr>
              <a:t>+ </a:t>
            </a:r>
            <a:r>
              <a:rPr b="0" lang="zh-CN" sz="1150" spc="-1" strike="noStrike">
                <a:solidFill>
                  <a:srgbClr val="e2e8f0"/>
                </a:solidFill>
                <a:latin typeface="Microsoft YaHei"/>
              </a:rPr>
              <a:t>梯度修正</a:t>
            </a:r>
            <a:endParaRPr b="0" lang="en-US" sz="1150" spc="-1" strike="noStrike">
              <a:solidFill>
                <a:srgbClr val="e2e8f0"/>
              </a:solidFill>
              <a:latin typeface="Microsoft YaHei"/>
              <a:ea typeface="Microsoft YaHei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635240" y="1417320"/>
            <a:ext cx="3931920" cy="25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400" spc="-1" strike="noStrike">
                <a:solidFill>
                  <a:srgbClr val="2563eb"/>
                </a:solidFill>
                <a:latin typeface="Microsoft YaHei"/>
              </a:rPr>
              <a:t>双线性</a:t>
            </a:r>
            <a:endParaRPr b="1" lang="en-US" sz="140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635240" y="1737360"/>
            <a:ext cx="3931920" cy="5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邻居平均，快；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边缘拉链纹、伪彩。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635240" y="2697480"/>
            <a:ext cx="3931920" cy="25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400" spc="-1" strike="noStrike">
                <a:solidFill>
                  <a:srgbClr val="15803d"/>
                </a:solidFill>
                <a:latin typeface="Microsoft YaHei"/>
              </a:rPr>
              <a:t>Malvar-He-Cutler</a:t>
            </a:r>
            <a:endParaRPr b="1" lang="en-US" sz="1400" spc="-1" strike="noStrike">
              <a:solidFill>
                <a:srgbClr val="15803d"/>
              </a:solidFill>
              <a:latin typeface="Microsoft YaHei"/>
              <a:ea typeface="Microsoft YaHei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635240" y="3017520"/>
            <a:ext cx="3931920" cy="5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梯度修正，伪彩更少；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  <a:p>
            <a:r>
              <a:rPr b="0" lang="zh-CN" sz="1100" spc="-1" strike="noStrike">
                <a:solidFill>
                  <a:srgbClr val="0f172a"/>
                </a:solidFill>
                <a:latin typeface="Microsoft YaHei"/>
              </a:rPr>
              <a:t>本课默认。</a:t>
            </a:r>
            <a:endParaRPr b="0" lang="en-US" sz="1100" spc="-1" strike="noStrike">
              <a:solidFill>
                <a:srgbClr val="0f172a"/>
              </a:solidFill>
              <a:latin typeface="Microsoft YaHei"/>
              <a:ea typeface="Microsoft YaHei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05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32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05 / RGB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颜色、动态范围、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Gamma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34" name=""/>
          <p:cNvSpPr/>
          <p:nvPr/>
        </p:nvSpPr>
        <p:spPr>
          <a:xfrm>
            <a:off x="1357560" y="1380600"/>
            <a:ext cx="4325040" cy="29077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1394280" y="1417320"/>
            <a:ext cx="4251960" cy="28346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 txBox="1"/>
          <p:nvPr/>
        </p:nvSpPr>
        <p:spPr>
          <a:xfrm>
            <a:off x="685800" y="4370760"/>
            <a:ext cx="56692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CCM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后：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linear sRGB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37" name=""/>
          <p:cNvSpPr/>
          <p:nvPr/>
        </p:nvSpPr>
        <p:spPr>
          <a:xfrm>
            <a:off x="676656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38" name=""/>
          <p:cNvSpPr txBox="1"/>
          <p:nvPr/>
        </p:nvSpPr>
        <p:spPr>
          <a:xfrm>
            <a:off x="6766560" y="14857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07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26948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Color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26948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1" name=""/>
          <p:cNvSpPr/>
          <p:nvPr/>
        </p:nvSpPr>
        <p:spPr>
          <a:xfrm>
            <a:off x="676656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42" name=""/>
          <p:cNvSpPr txBox="1"/>
          <p:nvPr/>
        </p:nvSpPr>
        <p:spPr>
          <a:xfrm>
            <a:off x="6766560" y="21441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08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26948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X-talking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26948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串扰校正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5" name=""/>
          <p:cNvSpPr/>
          <p:nvPr/>
        </p:nvSpPr>
        <p:spPr>
          <a:xfrm>
            <a:off x="676656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46" name=""/>
          <p:cNvSpPr txBox="1"/>
          <p:nvPr/>
        </p:nvSpPr>
        <p:spPr>
          <a:xfrm>
            <a:off x="6766560" y="280260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09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26948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Color Corr.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26948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相机→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sRGB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49" name=""/>
          <p:cNvSpPr/>
          <p:nvPr/>
        </p:nvSpPr>
        <p:spPr>
          <a:xfrm>
            <a:off x="676656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0" name=""/>
          <p:cNvSpPr txBox="1"/>
          <p:nvPr/>
        </p:nvSpPr>
        <p:spPr>
          <a:xfrm>
            <a:off x="6766560" y="346068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10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26948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HDR/WDR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26948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高光压缩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53" name=""/>
          <p:cNvSpPr/>
          <p:nvPr/>
        </p:nvSpPr>
        <p:spPr>
          <a:xfrm>
            <a:off x="676656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4" name=""/>
          <p:cNvSpPr txBox="1"/>
          <p:nvPr/>
        </p:nvSpPr>
        <p:spPr>
          <a:xfrm>
            <a:off x="6766560" y="411912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11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26948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Gamma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726948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曝光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+sRGB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57" name=""/>
          <p:cNvSpPr/>
          <p:nvPr/>
        </p:nvSpPr>
        <p:spPr>
          <a:xfrm>
            <a:off x="676656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58" name=""/>
          <p:cNvSpPr txBox="1"/>
          <p:nvPr/>
        </p:nvSpPr>
        <p:spPr>
          <a:xfrm>
            <a:off x="6766560" y="4777560"/>
            <a:ext cx="3474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900" spc="-1" strike="noStrike">
                <a:solidFill>
                  <a:srgbClr val="ffffff"/>
                </a:solidFill>
                <a:latin typeface="Microsoft YaHei"/>
              </a:rPr>
              <a:t>12</a:t>
            </a:r>
            <a:endParaRPr b="1" lang="en-US" sz="9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726948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Color Space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26948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RGB→YUV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06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6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06 / YUV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域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最后修观感，再编码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66" name=""/>
          <p:cNvSpPr/>
          <p:nvPr/>
        </p:nvSpPr>
        <p:spPr>
          <a:xfrm>
            <a:off x="1357560" y="1380600"/>
            <a:ext cx="4325040" cy="29077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1394280" y="1417320"/>
            <a:ext cx="4251960" cy="283464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 txBox="1"/>
          <p:nvPr/>
        </p:nvSpPr>
        <p:spPr>
          <a:xfrm>
            <a:off x="685800" y="4370760"/>
            <a:ext cx="56692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RGB→YUV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之后：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Y/U/V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三通道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69" name=""/>
          <p:cNvSpPr/>
          <p:nvPr/>
        </p:nvSpPr>
        <p:spPr>
          <a:xfrm>
            <a:off x="6766560" y="14446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0" name=""/>
          <p:cNvSpPr txBox="1"/>
          <p:nvPr/>
        </p:nvSpPr>
        <p:spPr>
          <a:xfrm>
            <a:off x="6766560" y="148572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13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7269480" y="13989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Luma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269480" y="16732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亮度降噪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73" name=""/>
          <p:cNvSpPr/>
          <p:nvPr/>
        </p:nvSpPr>
        <p:spPr>
          <a:xfrm>
            <a:off x="6766560" y="21031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4" name=""/>
          <p:cNvSpPr txBox="1"/>
          <p:nvPr/>
        </p:nvSpPr>
        <p:spPr>
          <a:xfrm>
            <a:off x="6766560" y="214416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14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269480" y="20574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Edge Enhance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269480" y="23317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边缘增强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77" name=""/>
          <p:cNvSpPr/>
          <p:nvPr/>
        </p:nvSpPr>
        <p:spPr>
          <a:xfrm>
            <a:off x="6766560" y="276120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78" name=""/>
          <p:cNvSpPr txBox="1"/>
          <p:nvPr/>
        </p:nvSpPr>
        <p:spPr>
          <a:xfrm>
            <a:off x="6766560" y="280260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15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269480" y="271548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Contrast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269480" y="298980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对比度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1" name=""/>
          <p:cNvSpPr/>
          <p:nvPr/>
        </p:nvSpPr>
        <p:spPr>
          <a:xfrm>
            <a:off x="6766560" y="341964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82" name=""/>
          <p:cNvSpPr txBox="1"/>
          <p:nvPr/>
        </p:nvSpPr>
        <p:spPr>
          <a:xfrm>
            <a:off x="6766560" y="346068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16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269480" y="337392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NR Chroma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269480" y="364824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色度降噪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5" name=""/>
          <p:cNvSpPr/>
          <p:nvPr/>
        </p:nvSpPr>
        <p:spPr>
          <a:xfrm>
            <a:off x="6766560" y="407808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86" name=""/>
          <p:cNvSpPr txBox="1"/>
          <p:nvPr/>
        </p:nvSpPr>
        <p:spPr>
          <a:xfrm>
            <a:off x="6766560" y="411912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17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269480" y="403236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Hue/Sat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269480" y="430668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色相饱和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89" name=""/>
          <p:cNvSpPr/>
          <p:nvPr/>
        </p:nvSpPr>
        <p:spPr>
          <a:xfrm>
            <a:off x="6766560" y="4736520"/>
            <a:ext cx="347400" cy="347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190" name=""/>
          <p:cNvSpPr txBox="1"/>
          <p:nvPr/>
        </p:nvSpPr>
        <p:spPr>
          <a:xfrm>
            <a:off x="6766560" y="4777560"/>
            <a:ext cx="3474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en-US" sz="850" spc="-1" strike="noStrike">
                <a:solidFill>
                  <a:srgbClr val="ffffff"/>
                </a:solidFill>
                <a:latin typeface="Microsoft YaHei"/>
              </a:rPr>
              <a:t>18/19</a:t>
            </a:r>
            <a:endParaRPr b="1" lang="en-US" sz="85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269480" y="4690800"/>
            <a:ext cx="4206240" cy="23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50" spc="-1" strike="noStrike">
                <a:solidFill>
                  <a:srgbClr val="0b1f33"/>
                </a:solidFill>
                <a:latin typeface="Microsoft YaHei"/>
              </a:rPr>
              <a:t>Scale/Encoder</a:t>
            </a:r>
            <a:endParaRPr b="1" lang="en-US" sz="125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69480" y="4965120"/>
            <a:ext cx="42062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缩放</a:t>
            </a:r>
            <a:r>
              <a:rPr b="0" lang="en-US" sz="1000" spc="-1" strike="noStrike">
                <a:solidFill>
                  <a:srgbClr val="64748b"/>
                </a:solidFill>
                <a:latin typeface="Microsoft YaHei"/>
              </a:rPr>
              <a:t>/</a:t>
            </a:r>
            <a:r>
              <a:rPr b="0" lang="zh-CN" sz="1000" spc="-1" strike="noStrike">
                <a:solidFill>
                  <a:srgbClr val="64748b"/>
                </a:solidFill>
                <a:latin typeface="Microsoft YaHei"/>
              </a:rPr>
              <a:t>编码</a:t>
            </a:r>
            <a:endParaRPr b="0" lang="en-US" sz="100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07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196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07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工程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为什么这套代码适合学？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198" name=""/>
          <p:cNvSpPr/>
          <p:nvPr/>
        </p:nvSpPr>
        <p:spPr>
          <a:xfrm>
            <a:off x="685800" y="1417320"/>
            <a:ext cx="5806440" cy="3977640"/>
          </a:xfrm>
          <a:prstGeom prst="rect">
            <a:avLst/>
          </a:prstGeom>
          <a:solidFill>
            <a:srgbClr val="111c2e"/>
          </a:solidFill>
          <a:ln w="0">
            <a:noFill/>
          </a:ln>
        </p:spPr>
      </p:sp>
      <p:sp>
        <p:nvSpPr>
          <p:cNvPr id="199" name=""/>
          <p:cNvSpPr txBox="1"/>
          <p:nvPr/>
        </p:nvSpPr>
        <p:spPr>
          <a:xfrm>
            <a:off x="932400" y="1627560"/>
            <a:ext cx="5303520" cy="356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stages/06_demosaic/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README.md    theory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stage.cpp    algorithm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main.cpp     CLI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common/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raw.cpp      .raw + .meta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image.h      .isp container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color.h      sRGB / matrix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data/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sample.raw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  <a:p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sample.meta</a:t>
            </a:r>
            <a:endParaRPr b="0" lang="en-US" sz="1200" spc="-1" strike="noStrike">
              <a:solidFill>
                <a:srgbClr val="e2e8f0"/>
              </a:solidFill>
              <a:latin typeface="Consolas"/>
              <a:ea typeface="Consolas"/>
            </a:endParaRPr>
          </a:p>
        </p:txBody>
      </p:sp>
      <p:sp>
        <p:nvSpPr>
          <p:cNvPr id="200" name=""/>
          <p:cNvSpPr/>
          <p:nvPr/>
        </p:nvSpPr>
        <p:spPr>
          <a:xfrm>
            <a:off x="6812280" y="141732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1" name=""/>
          <p:cNvSpPr txBox="1"/>
          <p:nvPr/>
        </p:nvSpPr>
        <p:spPr>
          <a:xfrm>
            <a:off x="7040880" y="158184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一个 </a:t>
            </a:r>
            <a:r>
              <a:rPr b="1" lang="en-US" sz="1300" spc="-1" strike="noStrike">
                <a:solidFill>
                  <a:srgbClr val="0b1f33"/>
                </a:solidFill>
                <a:latin typeface="Microsoft YaHei"/>
              </a:rPr>
              <a:t>stage </a:t>
            </a:r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一个函数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040880" y="19839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接口在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stages.h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，改完再编译。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3" name=""/>
          <p:cNvSpPr/>
          <p:nvPr/>
        </p:nvSpPr>
        <p:spPr>
          <a:xfrm>
            <a:off x="6812280" y="289836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4" name=""/>
          <p:cNvSpPr txBox="1"/>
          <p:nvPr/>
        </p:nvSpPr>
        <p:spPr>
          <a:xfrm>
            <a:off x="7040880" y="306324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中间格式可检查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040880" y="34653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.isp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带头信息，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isp_dump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随时看。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6" name=""/>
          <p:cNvSpPr/>
          <p:nvPr/>
        </p:nvSpPr>
        <p:spPr>
          <a:xfrm>
            <a:off x="6812280" y="4379760"/>
            <a:ext cx="4709160" cy="12801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07" name=""/>
          <p:cNvSpPr txBox="1"/>
          <p:nvPr/>
        </p:nvSpPr>
        <p:spPr>
          <a:xfrm>
            <a:off x="7040880" y="4544280"/>
            <a:ext cx="4251960" cy="237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两种跑法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040880" y="4946760"/>
            <a:ext cx="4251960" cy="4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内存流水线或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--steps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分步。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85800" y="5577840"/>
            <a:ext cx="580644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一个目录 </a:t>
            </a:r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=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一节实验课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812280" y="5989320"/>
            <a:ext cx="470916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zh-CN" sz="1050" spc="-1" strike="noStrike">
                <a:solidFill>
                  <a:srgbClr val="f59e0b"/>
                </a:solidFill>
                <a:latin typeface="Microsoft YaHei"/>
              </a:rPr>
              <a:t>改算法 → 再编译 → </a:t>
            </a:r>
            <a:r>
              <a:rPr b="1" lang="en-US" sz="1050" spc="-1" strike="noStrike">
                <a:solidFill>
                  <a:srgbClr val="f59e0b"/>
                </a:solidFill>
                <a:latin typeface="Microsoft YaHei"/>
              </a:rPr>
              <a:t>13 </a:t>
            </a:r>
            <a:r>
              <a:rPr b="1" lang="zh-CN" sz="1050" spc="-1" strike="noStrike">
                <a:solidFill>
                  <a:srgbClr val="f59e0b"/>
                </a:solidFill>
                <a:latin typeface="Microsoft YaHei"/>
              </a:rPr>
              <a:t>秒看到结果</a:t>
            </a:r>
            <a:endParaRPr b="1" lang="en-US" sz="105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08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</p:sp>
      <p:sp>
        <p:nvSpPr>
          <p:cNvPr id="214" name=""/>
          <p:cNvSpPr txBox="1"/>
          <p:nvPr/>
        </p:nvSpPr>
        <p:spPr>
          <a:xfrm>
            <a:off x="685800" y="383760"/>
            <a:ext cx="4572000" cy="20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f59e0b"/>
                </a:solidFill>
                <a:latin typeface="Microsoft YaHei"/>
              </a:rPr>
              <a:t>08 / </a:t>
            </a:r>
            <a:r>
              <a:rPr b="1" lang="zh-CN" sz="1100" spc="-1" strike="noStrike">
                <a:solidFill>
                  <a:srgbClr val="f59e0b"/>
                </a:solidFill>
                <a:latin typeface="Microsoft YaHei"/>
              </a:rPr>
              <a:t>结果</a:t>
            </a:r>
            <a:endParaRPr b="1" lang="en-US" sz="11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685800" y="640080"/>
            <a:ext cx="10789920" cy="59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跑通：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2880×1620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，约 </a:t>
            </a:r>
            <a:r>
              <a:rPr b="1" lang="en-US" sz="2800" spc="-1" strike="noStrike">
                <a:solidFill>
                  <a:srgbClr val="0b1f33"/>
                </a:solidFill>
                <a:latin typeface="Microsoft YaHei"/>
              </a:rPr>
              <a:t>13 </a:t>
            </a:r>
            <a:r>
              <a:rPr b="1" lang="zh-CN" sz="2800" spc="-1" strike="noStrike">
                <a:solidFill>
                  <a:srgbClr val="0b1f33"/>
                </a:solidFill>
                <a:latin typeface="Microsoft YaHei"/>
              </a:rPr>
              <a:t>秒</a:t>
            </a:r>
            <a:endParaRPr b="1" lang="en-US" sz="28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16" name=""/>
          <p:cNvSpPr/>
          <p:nvPr/>
        </p:nvSpPr>
        <p:spPr>
          <a:xfrm>
            <a:off x="649080" y="1723680"/>
            <a:ext cx="6976800" cy="395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685800" y="1760400"/>
            <a:ext cx="6903720" cy="388548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 txBox="1"/>
          <p:nvPr/>
        </p:nvSpPr>
        <p:spPr>
          <a:xfrm>
            <a:off x="685800" y="6199560"/>
            <a:ext cx="6903720" cy="17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950" spc="-1" strike="noStrike">
                <a:solidFill>
                  <a:srgbClr val="64748b"/>
                </a:solidFill>
                <a:latin typeface="Microsoft YaHei"/>
              </a:rPr>
              <a:t>out/final.png  ·  sRGB PNG</a:t>
            </a:r>
            <a:endParaRPr b="0" lang="en-US" sz="9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19" name=""/>
          <p:cNvSpPr/>
          <p:nvPr/>
        </p:nvSpPr>
        <p:spPr>
          <a:xfrm>
            <a:off x="8001000" y="1325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0" name=""/>
          <p:cNvSpPr txBox="1"/>
          <p:nvPr/>
        </p:nvSpPr>
        <p:spPr>
          <a:xfrm>
            <a:off x="8211240" y="1435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f59e0b"/>
                </a:solidFill>
                <a:latin typeface="Microsoft YaHei"/>
              </a:rPr>
              <a:t>20</a:t>
            </a:r>
            <a:endParaRPr b="1" lang="en-US" sz="24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326880" y="1654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个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stage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2" name=""/>
          <p:cNvSpPr/>
          <p:nvPr/>
        </p:nvSpPr>
        <p:spPr>
          <a:xfrm>
            <a:off x="8001000" y="2468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3" name=""/>
          <p:cNvSpPr txBox="1"/>
          <p:nvPr/>
        </p:nvSpPr>
        <p:spPr>
          <a:xfrm>
            <a:off x="8211240" y="2578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2563eb"/>
                </a:solidFill>
                <a:latin typeface="Microsoft YaHei"/>
              </a:rPr>
              <a:t>13</a:t>
            </a:r>
            <a:endParaRPr b="1" lang="en-US" sz="2400" spc="-1" strike="noStrike">
              <a:solidFill>
                <a:srgbClr val="2563eb"/>
              </a:solidFill>
              <a:latin typeface="Microsoft YaHei"/>
              <a:ea typeface="Microsoft YaHei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326880" y="2797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秒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/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全流程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5" name=""/>
          <p:cNvSpPr/>
          <p:nvPr/>
        </p:nvSpPr>
        <p:spPr>
          <a:xfrm>
            <a:off x="8001000" y="3611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8211240" y="3721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15803d"/>
                </a:solidFill>
                <a:latin typeface="Microsoft YaHei"/>
              </a:rPr>
              <a:t>0</a:t>
            </a:r>
            <a:endParaRPr b="1" lang="en-US" sz="2400" spc="-1" strike="noStrike">
              <a:solidFill>
                <a:srgbClr val="15803d"/>
              </a:solidFill>
              <a:latin typeface="Microsoft YaHei"/>
              <a:ea typeface="Microsoft YaHei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9326880" y="3940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分步 </a:t>
            </a:r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vs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内存差异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28" name=""/>
          <p:cNvSpPr/>
          <p:nvPr/>
        </p:nvSpPr>
        <p:spPr>
          <a:xfrm>
            <a:off x="8001000" y="4754880"/>
            <a:ext cx="3520440" cy="9601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</p:sp>
      <p:sp>
        <p:nvSpPr>
          <p:cNvPr id="229" name=""/>
          <p:cNvSpPr txBox="1"/>
          <p:nvPr/>
        </p:nvSpPr>
        <p:spPr>
          <a:xfrm>
            <a:off x="8211240" y="4864320"/>
            <a:ext cx="1463040" cy="44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0b1f33"/>
                </a:solidFill>
                <a:latin typeface="Microsoft YaHei"/>
              </a:rPr>
              <a:t>2.9K</a:t>
            </a:r>
            <a:endParaRPr b="1" lang="en-US" sz="24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9326880" y="5083920"/>
            <a:ext cx="2011680" cy="19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4748b"/>
                </a:solidFill>
                <a:latin typeface="Microsoft YaHei"/>
              </a:rPr>
              <a:t>×1.6K </a:t>
            </a:r>
            <a:r>
              <a:rPr b="0" lang="zh-CN" sz="1050" spc="-1" strike="noStrike">
                <a:solidFill>
                  <a:srgbClr val="64748b"/>
                </a:solidFill>
                <a:latin typeface="Microsoft YaHei"/>
              </a:rPr>
              <a:t>输出</a:t>
            </a:r>
            <a:endParaRPr b="0" lang="en-US" sz="10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8001000" y="5943600"/>
            <a:ext cx="352044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zh-CN" sz="950" spc="-1" strike="noStrike">
                <a:solidFill>
                  <a:srgbClr val="64748b"/>
                </a:solidFill>
                <a:latin typeface="Microsoft YaHei"/>
              </a:rPr>
              <a:t>同一份 </a:t>
            </a:r>
            <a:r>
              <a:rPr b="0" lang="en-US" sz="950" spc="-1" strike="noStrike">
                <a:solidFill>
                  <a:srgbClr val="64748b"/>
                </a:solidFill>
                <a:latin typeface="Microsoft YaHei"/>
              </a:rPr>
              <a:t>.raw</a:t>
            </a:r>
            <a:r>
              <a:rPr b="0" lang="zh-CN" sz="950" spc="-1" strike="noStrike">
                <a:solidFill>
                  <a:srgbClr val="64748b"/>
                </a:solidFill>
                <a:latin typeface="Microsoft YaHei"/>
              </a:rPr>
              <a:t>，两种输出</a:t>
            </a:r>
            <a:endParaRPr b="0" lang="en-US" sz="950" spc="-1" strike="noStrike">
              <a:solidFill>
                <a:srgbClr val="64748b"/>
              </a:solidFill>
              <a:latin typeface="Microsoft YaHei"/>
              <a:ea typeface="Microsoft YaHei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09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>
            <a:off x="0" y="0"/>
            <a:ext cx="121914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235" name=""/>
          <p:cNvSpPr txBox="1"/>
          <p:nvPr/>
        </p:nvSpPr>
        <p:spPr>
          <a:xfrm>
            <a:off x="777240" y="685800"/>
            <a:ext cx="10607040" cy="55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000" spc="-1" strike="noStrike">
                <a:solidFill>
                  <a:srgbClr val="ffffff"/>
                </a:solidFill>
                <a:latin typeface="Microsoft YaHei"/>
              </a:rPr>
              <a:t>把三域拆开，</a:t>
            </a:r>
            <a:r>
              <a:rPr b="1" lang="en-US" sz="3000" spc="-1" strike="noStrike">
                <a:solidFill>
                  <a:srgbClr val="ffffff"/>
                </a:solidFill>
                <a:latin typeface="Microsoft YaHei"/>
              </a:rPr>
              <a:t>ISP </a:t>
            </a:r>
            <a:r>
              <a:rPr b="1" lang="zh-CN" sz="3000" spc="-1" strike="noStrike">
                <a:solidFill>
                  <a:srgbClr val="ffffff"/>
                </a:solidFill>
                <a:latin typeface="Microsoft YaHei"/>
              </a:rPr>
              <a:t>就不再是黑魔法</a:t>
            </a:r>
            <a:endParaRPr b="1" lang="en-US" sz="30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77240" y="182844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01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417320" y="180108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RAW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域修数据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417320" y="219456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BLC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LSC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DPC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NR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AWB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Demosaic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77240" y="278892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02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17320" y="276120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RGB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域修颜色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417320" y="315468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NR Color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X-talking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CCM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WDR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Gamma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7240" y="3749040"/>
            <a:ext cx="594360" cy="3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00" spc="-1" strike="noStrike">
                <a:solidFill>
                  <a:srgbClr val="f59e0b"/>
                </a:solidFill>
                <a:latin typeface="Microsoft YaHei"/>
              </a:rPr>
              <a:t>03</a:t>
            </a:r>
            <a:endParaRPr b="1" lang="en-US" sz="1600" spc="-1" strike="noStrike">
              <a:solidFill>
                <a:srgbClr val="f59e0b"/>
              </a:solidFill>
              <a:latin typeface="Microsoft YaHei"/>
              <a:ea typeface="Microsoft YaHei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417320" y="3721320"/>
            <a:ext cx="5029200" cy="31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Microsoft YaHei"/>
              </a:rPr>
              <a:t>YUV </a:t>
            </a:r>
            <a:r>
              <a:rPr b="1" lang="zh-CN" sz="1700" spc="-1" strike="noStrike">
                <a:solidFill>
                  <a:srgbClr val="ffffff"/>
                </a:solidFill>
                <a:latin typeface="Microsoft YaHei"/>
              </a:rPr>
              <a:t>域修观感</a:t>
            </a:r>
            <a:endParaRPr b="1" lang="en-US" sz="17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417320" y="4114440"/>
            <a:ext cx="502920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亮度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/</a:t>
            </a:r>
            <a:r>
              <a:rPr b="0" lang="zh-CN" sz="1100" spc="-1" strike="noStrike">
                <a:solidFill>
                  <a:srgbClr val="94a3b8"/>
                </a:solidFill>
                <a:latin typeface="Microsoft YaHei"/>
              </a:rPr>
              <a:t>色度降噪、边缘、对比度、</a:t>
            </a:r>
            <a:r>
              <a:rPr b="0" lang="en-US" sz="1100" spc="-1" strike="noStrike">
                <a:solidFill>
                  <a:srgbClr val="94a3b8"/>
                </a:solidFill>
                <a:latin typeface="Microsoft YaHei"/>
              </a:rPr>
              <a:t>Hue/Sat</a:t>
            </a:r>
            <a:endParaRPr b="0" lang="en-US" sz="11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5" name=""/>
          <p:cNvSpPr/>
          <p:nvPr/>
        </p:nvSpPr>
        <p:spPr>
          <a:xfrm>
            <a:off x="777240" y="5074920"/>
            <a:ext cx="7223760" cy="6858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</p:sp>
      <p:sp>
        <p:nvSpPr>
          <p:cNvPr id="246" name=""/>
          <p:cNvSpPr txBox="1"/>
          <p:nvPr/>
        </p:nvSpPr>
        <p:spPr>
          <a:xfrm>
            <a:off x="960120" y="5212080"/>
            <a:ext cx="6858000" cy="2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1" lang="zh-CN" sz="1300" spc="-1" strike="noStrike">
                <a:solidFill>
                  <a:srgbClr val="0b1f33"/>
                </a:solidFill>
                <a:latin typeface="Microsoft YaHei"/>
              </a:rPr>
              <a:t>先跑通  →  再拆开  →  最后替换算法</a:t>
            </a:r>
            <a:endParaRPr b="1" lang="en-US" sz="1300" spc="-1" strike="noStrike">
              <a:solidFill>
                <a:srgbClr val="0b1f33"/>
              </a:solidFill>
              <a:latin typeface="Microsoft YaHei"/>
              <a:ea typeface="Microsoft YaHei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8549640" y="1828800"/>
            <a:ext cx="3063240" cy="64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zh-CN" sz="3400" spc="-1" strike="noStrike">
                <a:solidFill>
                  <a:srgbClr val="ffffff"/>
                </a:solidFill>
                <a:latin typeface="Microsoft YaHei"/>
              </a:rPr>
              <a:t>谢谢</a:t>
            </a:r>
            <a:endParaRPr b="1" lang="en-US" sz="3400" spc="-1" strike="noStrike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8577000" y="2669760"/>
            <a:ext cx="2926080" cy="23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zh-CN" sz="1200" spc="-1" strike="noStrike">
                <a:solidFill>
                  <a:srgbClr val="94a3b8"/>
                </a:solidFill>
                <a:latin typeface="Microsoft YaHei"/>
              </a:rPr>
              <a:t>欢迎提问 </a:t>
            </a:r>
            <a:r>
              <a:rPr b="0" lang="en-US" sz="1200" spc="-1" strike="noStrike">
                <a:solidFill>
                  <a:srgbClr val="94a3b8"/>
                </a:solidFill>
                <a:latin typeface="Microsoft YaHei"/>
              </a:rPr>
              <a:t>/ </a:t>
            </a:r>
            <a:r>
              <a:rPr b="0" lang="zh-CN" sz="1200" spc="-1" strike="noStrike">
                <a:solidFill>
                  <a:srgbClr val="94a3b8"/>
                </a:solidFill>
                <a:latin typeface="Microsoft YaHei"/>
              </a:rPr>
              <a:t>一起改代码</a:t>
            </a:r>
            <a:endParaRPr b="0" lang="en-US" sz="12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577000" y="3291840"/>
            <a:ext cx="292608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f59e0b"/>
                </a:solidFill>
                <a:latin typeface="Consolas"/>
              </a:rPr>
              <a:t>docs/PRINCIPLES.md</a:t>
            </a:r>
            <a:endParaRPr b="0" lang="en-US" sz="1000" spc="-1" strike="noStrike">
              <a:solidFill>
                <a:srgbClr val="f59e0b"/>
              </a:solidFill>
              <a:latin typeface="Consolas"/>
              <a:ea typeface="Consolas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685800" y="6510240"/>
            <a:ext cx="3657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ISP Pipeline · 5 min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561320" y="6510240"/>
            <a:ext cx="941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Microsoft YaHei"/>
              </a:rPr>
              <a:t>10 / 10</a:t>
            </a:r>
            <a:endParaRPr b="0" lang="en-US" sz="900" spc="-1" strike="noStrike">
              <a:solidFill>
                <a:srgbClr val="94a3b8"/>
              </a:solidFill>
              <a:latin typeface="Microsoft YaHei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2026-10-21T22:14:37Z</dcterms:created>
  <dc:creator>ISP 教学工程</dc:creator>
  <dc:description/>
  <dc:language>zh-CN</dc:language>
  <cp:lastModifiedBy/>
  <dcterms:modified xsi:type="dcterms:W3CDTF">2026-10-21T22:14:38Z</dcterms:modified>
  <cp:revision>1</cp:revision>
  <dc:subject>5 分钟讲解</dc:subject>
  <dc:title>从 .raw 到 RGB：三域 ISP Pipeline</dc:title>
</cp:coreProperties>
</file>